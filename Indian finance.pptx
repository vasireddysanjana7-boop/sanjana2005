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3" r:id="rId5"/>
    <p:sldId id="259" r:id="rId6"/>
    <p:sldId id="260" r:id="rId7"/>
    <p:sldId id="261" r:id="rId8"/>
    <p:sldId id="262"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882" autoAdjust="0"/>
    <p:restoredTop sz="94660"/>
  </p:normalViewPr>
  <p:slideViewPr>
    <p:cSldViewPr snapToGrid="0" snapToObjects="1">
      <p:cViewPr>
        <p:scale>
          <a:sx n="100" d="100"/>
          <a:sy n="100" d="100"/>
        </p:scale>
        <p:origin x="1258" y="-6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Indian Personal Finance &amp; Spending Habits</a:t>
            </a:r>
          </a:p>
        </p:txBody>
      </p:sp>
      <p:sp>
        <p:nvSpPr>
          <p:cNvPr id="3" name="Subtitle 2"/>
          <p:cNvSpPr>
            <a:spLocks noGrp="1"/>
          </p:cNvSpPr>
          <p:nvPr>
            <p:ph type="subTitle" idx="1"/>
          </p:nvPr>
        </p:nvSpPr>
        <p:spPr/>
        <p:txBody>
          <a:bodyPr/>
          <a:lstStyle/>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4" name="Rectangle 1">
            <a:extLst>
              <a:ext uri="{FF2B5EF4-FFF2-40B4-BE49-F238E27FC236}">
                <a16:creationId xmlns:a16="http://schemas.microsoft.com/office/drawing/2014/main" id="{32BC5FC7-2934-A2E0-AD91-B16C3ECED500}"/>
              </a:ext>
            </a:extLst>
          </p:cNvPr>
          <p:cNvSpPr>
            <a:spLocks noGrp="1" noChangeArrowheads="1"/>
          </p:cNvSpPr>
          <p:nvPr>
            <p:ph idx="1"/>
          </p:nvPr>
        </p:nvSpPr>
        <p:spPr bwMode="auto">
          <a:xfrm>
            <a:off x="457200" y="3678515"/>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6" name="TextBox 5">
            <a:extLst>
              <a:ext uri="{FF2B5EF4-FFF2-40B4-BE49-F238E27FC236}">
                <a16:creationId xmlns:a16="http://schemas.microsoft.com/office/drawing/2014/main" id="{4073A777-2490-816C-4078-3ED5A693F722}"/>
              </a:ext>
            </a:extLst>
          </p:cNvPr>
          <p:cNvSpPr txBox="1"/>
          <p:nvPr/>
        </p:nvSpPr>
        <p:spPr>
          <a:xfrm>
            <a:off x="1150620" y="1582341"/>
            <a:ext cx="7353300" cy="3373359"/>
          </a:xfrm>
          <a:prstGeom prst="rect">
            <a:avLst/>
          </a:prstGeom>
          <a:noFill/>
        </p:spPr>
        <p:txBody>
          <a:bodyPr wrap="square">
            <a:spAutoFit/>
          </a:bodyPr>
          <a:lstStyle/>
          <a:p>
            <a:pPr marL="342900" indent="-342900" algn="just">
              <a:lnSpc>
                <a:spcPct val="150000"/>
              </a:lnSpc>
              <a:buAutoNum type="arabicPeriod"/>
            </a:pPr>
            <a:r>
              <a:rPr lang="en-IN" dirty="0">
                <a:latin typeface="Times New Roman" panose="02020603050405020304" pitchFamily="18" charset="0"/>
                <a:cs typeface="Times New Roman" panose="02020603050405020304" pitchFamily="18" charset="0"/>
              </a:rPr>
              <a:t>To understand how income levels among people with different occupations and living in various city tiers.</a:t>
            </a:r>
          </a:p>
          <a:p>
            <a:pPr marL="342900" indent="-342900" algn="just">
              <a:lnSpc>
                <a:spcPct val="150000"/>
              </a:lnSpc>
              <a:buAutoNum type="arabicPeriod"/>
            </a:pPr>
            <a:r>
              <a:rPr lang="en-IN" dirty="0">
                <a:latin typeface="Times New Roman" panose="02020603050405020304" pitchFamily="18" charset="0"/>
                <a:cs typeface="Times New Roman" panose="02020603050405020304" pitchFamily="18" charset="0"/>
              </a:rPr>
              <a:t> To study the spending habits of individuals on key needs such as rent, groceries, transport, and entertainment.</a:t>
            </a:r>
          </a:p>
          <a:p>
            <a:pPr marL="342900" indent="-342900" algn="just">
              <a:lnSpc>
                <a:spcPct val="150000"/>
              </a:lnSpc>
              <a:buAutoNum type="arabicPeriod"/>
            </a:pPr>
            <a:r>
              <a:rPr lang="en-IN" dirty="0">
                <a:latin typeface="Times New Roman" panose="02020603050405020304" pitchFamily="18" charset="0"/>
                <a:cs typeface="Times New Roman" panose="02020603050405020304" pitchFamily="18" charset="0"/>
              </a:rPr>
              <a:t> To examine how expenditures affect a person’s disposable income and overall savings potential.</a:t>
            </a:r>
          </a:p>
          <a:p>
            <a:pPr marL="342900" indent="-342900" algn="just">
              <a:lnSpc>
                <a:spcPct val="150000"/>
              </a:lnSpc>
              <a:buAutoNum type="arabicPeriod"/>
            </a:pPr>
            <a:r>
              <a:rPr lang="en-IN" dirty="0">
                <a:latin typeface="Times New Roman" panose="02020603050405020304" pitchFamily="18" charset="0"/>
                <a:cs typeface="Times New Roman" panose="02020603050405020304" pitchFamily="18" charset="0"/>
              </a:rPr>
              <a:t>To explore the link between age, income, and the percentage of income people wish to save.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Cleaning and Preparation</a:t>
            </a:r>
          </a:p>
        </p:txBody>
      </p:sp>
      <p:sp>
        <p:nvSpPr>
          <p:cNvPr id="3" name="Content Placeholder 2"/>
          <p:cNvSpPr>
            <a:spLocks noGrp="1"/>
          </p:cNvSpPr>
          <p:nvPr>
            <p:ph idx="1"/>
          </p:nvPr>
        </p:nvSpPr>
        <p:spPr/>
        <p:txBody>
          <a:bodyPr>
            <a:normAutofit/>
          </a:bodyPr>
          <a:lstStyle/>
          <a:p>
            <a:pPr>
              <a:lnSpc>
                <a:spcPct val="150000"/>
              </a:lnSpc>
            </a:pPr>
            <a:r>
              <a:rPr sz="1800" dirty="0">
                <a:latin typeface="Times New Roman" panose="02020603050405020304" pitchFamily="18" charset="0"/>
                <a:cs typeface="Times New Roman" panose="02020603050405020304" pitchFamily="18" charset="0"/>
              </a:rPr>
              <a:t>Removed duplicate and incomplete responses.</a:t>
            </a:r>
          </a:p>
          <a:p>
            <a:pPr>
              <a:lnSpc>
                <a:spcPct val="150000"/>
              </a:lnSpc>
            </a:pPr>
            <a:r>
              <a:rPr sz="1800" dirty="0">
                <a:latin typeface="Times New Roman" panose="02020603050405020304" pitchFamily="18" charset="0"/>
                <a:cs typeface="Times New Roman" panose="02020603050405020304" pitchFamily="18" charset="0"/>
              </a:rPr>
              <a:t>Handled missing values using mean substitution for numerical columns.</a:t>
            </a:r>
          </a:p>
          <a:p>
            <a:pPr>
              <a:lnSpc>
                <a:spcPct val="150000"/>
              </a:lnSpc>
            </a:pPr>
            <a:r>
              <a:rPr sz="1800" dirty="0">
                <a:latin typeface="Times New Roman" panose="02020603050405020304" pitchFamily="18" charset="0"/>
                <a:cs typeface="Times New Roman" panose="02020603050405020304" pitchFamily="18" charset="0"/>
              </a:rPr>
              <a:t>Ensured consistency between income, expenses, and savings columns.</a:t>
            </a:r>
          </a:p>
          <a:p>
            <a:pPr>
              <a:lnSpc>
                <a:spcPct val="150000"/>
              </a:lnSpc>
            </a:pPr>
            <a:r>
              <a:rPr sz="1800" dirty="0">
                <a:latin typeface="Times New Roman" panose="02020603050405020304" pitchFamily="18" charset="0"/>
                <a:cs typeface="Times New Roman" panose="02020603050405020304" pitchFamily="18" charset="0"/>
              </a:rPr>
              <a:t>Created calculated measures</a:t>
            </a:r>
            <a:r>
              <a:rPr lang="en-US" sz="1800" dirty="0">
                <a:latin typeface="Times New Roman" panose="02020603050405020304" pitchFamily="18" charset="0"/>
                <a:cs typeface="Times New Roman" panose="02020603050405020304" pitchFamily="18" charset="0"/>
              </a:rPr>
              <a:t> using “DAX”</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91638F-1CB1-1DAB-4416-A582F30DBD89}"/>
              </a:ext>
            </a:extLst>
          </p:cNvPr>
          <p:cNvPicPr>
            <a:picLocks noChangeAspect="1"/>
          </p:cNvPicPr>
          <p:nvPr/>
        </p:nvPicPr>
        <p:blipFill>
          <a:blip r:embed="rId2"/>
          <a:stretch>
            <a:fillRect/>
          </a:stretch>
        </p:blipFill>
        <p:spPr>
          <a:xfrm>
            <a:off x="518160" y="815340"/>
            <a:ext cx="8252459" cy="4990147"/>
          </a:xfrm>
          <a:prstGeom prst="rect">
            <a:avLst/>
          </a:prstGeom>
        </p:spPr>
      </p:pic>
    </p:spTree>
    <p:extLst>
      <p:ext uri="{BB962C8B-B14F-4D97-AF65-F5344CB8AC3E}">
        <p14:creationId xmlns:p14="http://schemas.microsoft.com/office/powerpoint/2010/main" val="904577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Insights from Dashboard</a:t>
            </a:r>
          </a:p>
        </p:txBody>
      </p:sp>
      <p:sp>
        <p:nvSpPr>
          <p:cNvPr id="3" name="Content Placeholder 2"/>
          <p:cNvSpPr>
            <a:spLocks noGrp="1"/>
          </p:cNvSpPr>
          <p:nvPr>
            <p:ph idx="1"/>
          </p:nvPr>
        </p:nvSpPr>
        <p:spPr/>
        <p:txBody>
          <a:bodyPr>
            <a:normAutofit/>
          </a:bodyPr>
          <a:lstStyle/>
          <a:p>
            <a:pPr algn="just">
              <a:lnSpc>
                <a:spcPct val="150000"/>
              </a:lnSpc>
            </a:pPr>
            <a:r>
              <a:rPr sz="1800" dirty="0">
                <a:latin typeface="Times New Roman" panose="02020603050405020304" pitchFamily="18" charset="0"/>
                <a:cs typeface="Times New Roman" panose="02020603050405020304" pitchFamily="18" charset="0"/>
              </a:rPr>
              <a:t>Average Monthly Income: ₹41.6K </a:t>
            </a:r>
            <a:endParaRPr lang="en-US" sz="1800" dirty="0">
              <a:latin typeface="Times New Roman" panose="02020603050405020304" pitchFamily="18" charset="0"/>
              <a:cs typeface="Times New Roman" panose="02020603050405020304" pitchFamily="18" charset="0"/>
            </a:endParaRPr>
          </a:p>
          <a:p>
            <a:pPr marL="0" indent="0" algn="just">
              <a:lnSpc>
                <a:spcPct val="150000"/>
              </a:lnSpc>
              <a:buNone/>
            </a:pPr>
            <a:r>
              <a:rPr lang="en-IN"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Average Desired Savings: ₹498.3K </a:t>
            </a:r>
            <a:endParaRPr lang="en-US" sz="18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 Avg. Disposable Income: ₹10.65K.</a:t>
            </a:r>
          </a:p>
          <a:p>
            <a:pPr algn="just">
              <a:lnSpc>
                <a:spcPct val="150000"/>
              </a:lnSpc>
            </a:pPr>
            <a:r>
              <a:rPr sz="1800" dirty="0">
                <a:latin typeface="Times New Roman" panose="02020603050405020304" pitchFamily="18" charset="0"/>
                <a:cs typeface="Times New Roman" panose="02020603050405020304" pitchFamily="18" charset="0"/>
              </a:rPr>
              <a:t>Professionals and students show higher savings aspirations compared to disposable income.</a:t>
            </a:r>
          </a:p>
          <a:p>
            <a:pPr algn="just">
              <a:lnSpc>
                <a:spcPct val="150000"/>
              </a:lnSpc>
            </a:pPr>
            <a:r>
              <a:rPr sz="1800" dirty="0">
                <a:latin typeface="Times New Roman" panose="02020603050405020304" pitchFamily="18" charset="0"/>
                <a:cs typeface="Times New Roman" panose="02020603050405020304" pitchFamily="18" charset="0"/>
              </a:rPr>
              <a:t>City Tier 1 respondents report the highest rent and income levels.</a:t>
            </a:r>
          </a:p>
          <a:p>
            <a:pPr algn="just">
              <a:lnSpc>
                <a:spcPct val="150000"/>
              </a:lnSpc>
            </a:pPr>
            <a:r>
              <a:rPr sz="1800" dirty="0">
                <a:latin typeface="Times New Roman" panose="02020603050405020304" pitchFamily="18" charset="0"/>
                <a:cs typeface="Times New Roman" panose="02020603050405020304" pitchFamily="18" charset="0"/>
              </a:rPr>
              <a:t>Major spending areas</a:t>
            </a:r>
            <a:r>
              <a:rPr lang="en-US" sz="1800" dirty="0">
                <a:latin typeface="Times New Roman" panose="02020603050405020304" pitchFamily="18" charset="0"/>
                <a:cs typeface="Times New Roman" panose="02020603050405020304" pitchFamily="18" charset="0"/>
              </a:rPr>
              <a:t> are g</a:t>
            </a:r>
            <a:r>
              <a:rPr sz="1800" dirty="0">
                <a:latin typeface="Times New Roman" panose="02020603050405020304" pitchFamily="18" charset="0"/>
                <a:cs typeface="Times New Roman" panose="02020603050405020304" pitchFamily="18" charset="0"/>
              </a:rPr>
              <a:t>roceries, </a:t>
            </a:r>
            <a:r>
              <a:rPr lang="en-US" sz="1800" dirty="0">
                <a:latin typeface="Times New Roman" panose="02020603050405020304" pitchFamily="18" charset="0"/>
                <a:cs typeface="Times New Roman" panose="02020603050405020304" pitchFamily="18" charset="0"/>
              </a:rPr>
              <a:t>t</a:t>
            </a:r>
            <a:r>
              <a:rPr sz="1800" dirty="0">
                <a:latin typeface="Times New Roman" panose="02020603050405020304" pitchFamily="18" charset="0"/>
                <a:cs typeface="Times New Roman" panose="02020603050405020304" pitchFamily="18" charset="0"/>
              </a:rPr>
              <a:t>ransport, and </a:t>
            </a:r>
            <a:r>
              <a:rPr lang="en-US" sz="1800" dirty="0">
                <a:latin typeface="Times New Roman" panose="02020603050405020304" pitchFamily="18" charset="0"/>
                <a:cs typeface="Times New Roman" panose="02020603050405020304" pitchFamily="18" charset="0"/>
              </a:rPr>
              <a:t>e</a:t>
            </a:r>
            <a:r>
              <a:rPr sz="1800" dirty="0">
                <a:latin typeface="Times New Roman" panose="02020603050405020304" pitchFamily="18" charset="0"/>
                <a:cs typeface="Times New Roman" panose="02020603050405020304" pitchFamily="18" charset="0"/>
              </a:rPr>
              <a:t>ntertainment.</a:t>
            </a:r>
          </a:p>
          <a:p>
            <a:pPr algn="just">
              <a:lnSpc>
                <a:spcPct val="150000"/>
              </a:lnSpc>
            </a:pPr>
            <a:r>
              <a:rPr sz="1800" dirty="0">
                <a:latin typeface="Times New Roman" panose="02020603050405020304" pitchFamily="18" charset="0"/>
                <a:cs typeface="Times New Roman" panose="02020603050405020304" pitchFamily="18" charset="0"/>
              </a:rPr>
              <a:t>20–30 years</a:t>
            </a:r>
            <a:r>
              <a:rPr lang="en-US" sz="1800" dirty="0">
                <a:latin typeface="Times New Roman" panose="02020603050405020304" pitchFamily="18" charset="0"/>
                <a:cs typeface="Times New Roman" panose="02020603050405020304" pitchFamily="18" charset="0"/>
              </a:rPr>
              <a:t> age group </a:t>
            </a:r>
            <a:r>
              <a:rPr sz="1800" dirty="0">
                <a:latin typeface="Times New Roman" panose="02020603050405020304" pitchFamily="18" charset="0"/>
                <a:cs typeface="Times New Roman" panose="02020603050405020304" pitchFamily="18" charset="0"/>
              </a:rPr>
              <a:t>show</a:t>
            </a:r>
            <a:r>
              <a:rPr lang="en-US" sz="1800" dirty="0">
                <a:latin typeface="Times New Roman" panose="02020603050405020304" pitchFamily="18" charset="0"/>
                <a:cs typeface="Times New Roman" panose="02020603050405020304" pitchFamily="18" charset="0"/>
              </a:rPr>
              <a:t>s</a:t>
            </a:r>
            <a:r>
              <a:rPr sz="1800" dirty="0">
                <a:latin typeface="Times New Roman" panose="02020603050405020304" pitchFamily="18" charset="0"/>
                <a:cs typeface="Times New Roman" panose="02020603050405020304" pitchFamily="18" charset="0"/>
              </a:rPr>
              <a:t> strong savings intent but limited disposable income.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Observations</a:t>
            </a:r>
          </a:p>
        </p:txBody>
      </p:sp>
      <p:sp>
        <p:nvSpPr>
          <p:cNvPr id="3" name="Content Placeholder 2"/>
          <p:cNvSpPr>
            <a:spLocks noGrp="1"/>
          </p:cNvSpPr>
          <p:nvPr>
            <p:ph idx="1"/>
          </p:nvPr>
        </p:nvSpPr>
        <p:spPr/>
        <p:txBody>
          <a:bodyPr>
            <a:normAutofit/>
          </a:bodyPr>
          <a:lstStyle/>
          <a:p>
            <a:pPr algn="just">
              <a:lnSpc>
                <a:spcPct val="150000"/>
              </a:lnSpc>
            </a:pPr>
            <a:r>
              <a:rPr sz="1800" dirty="0">
                <a:latin typeface="Times New Roman" panose="02020603050405020304" pitchFamily="18" charset="0"/>
                <a:cs typeface="Times New Roman" panose="02020603050405020304" pitchFamily="18" charset="0"/>
              </a:rPr>
              <a:t>Occupation strongly influences financial patterns: Professionals save more, while students aspire more.</a:t>
            </a:r>
          </a:p>
          <a:p>
            <a:pPr algn="just">
              <a:lnSpc>
                <a:spcPct val="150000"/>
              </a:lnSpc>
            </a:pPr>
            <a:r>
              <a:rPr sz="1800" dirty="0">
                <a:latin typeface="Times New Roman" panose="02020603050405020304" pitchFamily="18" charset="0"/>
                <a:cs typeface="Times New Roman" panose="02020603050405020304" pitchFamily="18" charset="0"/>
              </a:rPr>
              <a:t>Spending on entertainment and food is highest among younger and student segments.</a:t>
            </a:r>
          </a:p>
          <a:p>
            <a:pPr algn="just">
              <a:lnSpc>
                <a:spcPct val="150000"/>
              </a:lnSpc>
            </a:pPr>
            <a:r>
              <a:rPr sz="1800" dirty="0">
                <a:latin typeface="Times New Roman" panose="02020603050405020304" pitchFamily="18" charset="0"/>
                <a:cs typeface="Times New Roman" panose="02020603050405020304" pitchFamily="18" charset="0"/>
              </a:rPr>
              <a:t>Income growth directly correlates with grocery and transport expenses.</a:t>
            </a:r>
          </a:p>
          <a:p>
            <a:pPr algn="just">
              <a:lnSpc>
                <a:spcPct val="150000"/>
              </a:lnSpc>
            </a:pPr>
            <a:r>
              <a:rPr sz="1800" dirty="0">
                <a:latin typeface="Times New Roman" panose="02020603050405020304" pitchFamily="18" charset="0"/>
                <a:cs typeface="Times New Roman" panose="02020603050405020304" pitchFamily="18" charset="0"/>
              </a:rPr>
              <a:t>Desired savings appear relatively stable across age groups.</a:t>
            </a:r>
          </a:p>
          <a:p>
            <a:pPr algn="just">
              <a:lnSpc>
                <a:spcPct val="150000"/>
              </a:lnSpc>
            </a:pPr>
            <a:r>
              <a:rPr sz="1800" dirty="0">
                <a:latin typeface="Times New Roman" panose="02020603050405020304" pitchFamily="18" charset="0"/>
                <a:cs typeface="Times New Roman" panose="02020603050405020304" pitchFamily="18" charset="0"/>
              </a:rPr>
              <a:t>Tier 2 and 3 residents maintain lower rent but similar expense ratios.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normAutofit/>
          </a:bodyPr>
          <a:lstStyle/>
          <a:p>
            <a:pPr algn="just">
              <a:lnSpc>
                <a:spcPct val="150000"/>
              </a:lnSpc>
            </a:pPr>
            <a:r>
              <a:rPr sz="1800" dirty="0">
                <a:latin typeface="Times New Roman" panose="02020603050405020304" pitchFamily="18" charset="0"/>
                <a:cs typeface="Times New Roman" panose="02020603050405020304" pitchFamily="18" charset="0"/>
              </a:rPr>
              <a:t>Promote financial literacy to align desired and achievable savings goals.</a:t>
            </a:r>
          </a:p>
          <a:p>
            <a:pPr algn="just">
              <a:lnSpc>
                <a:spcPct val="150000"/>
              </a:lnSpc>
            </a:pPr>
            <a:r>
              <a:rPr sz="1800" dirty="0">
                <a:latin typeface="Times New Roman" panose="02020603050405020304" pitchFamily="18" charset="0"/>
                <a:cs typeface="Times New Roman" panose="02020603050405020304" pitchFamily="18" charset="0"/>
              </a:rPr>
              <a:t>Encourage investment education for younger individuals.</a:t>
            </a:r>
          </a:p>
          <a:p>
            <a:pPr algn="just">
              <a:lnSpc>
                <a:spcPct val="150000"/>
              </a:lnSpc>
            </a:pPr>
            <a:r>
              <a:rPr sz="1800" dirty="0">
                <a:latin typeface="Times New Roman" panose="02020603050405020304" pitchFamily="18" charset="0"/>
                <a:cs typeface="Times New Roman" panose="02020603050405020304" pitchFamily="18" charset="0"/>
              </a:rPr>
              <a:t>Introduce occupation-specific saving and budgeting tools.</a:t>
            </a:r>
          </a:p>
          <a:p>
            <a:pPr algn="just">
              <a:lnSpc>
                <a:spcPct val="150000"/>
              </a:lnSpc>
            </a:pPr>
            <a:r>
              <a:rPr sz="1800" dirty="0">
                <a:latin typeface="Times New Roman" panose="02020603050405020304" pitchFamily="18" charset="0"/>
                <a:cs typeface="Times New Roman" panose="02020603050405020304" pitchFamily="18" charset="0"/>
              </a:rPr>
              <a:t>Policy focus on rent control and cost-of-living support in Tier 1 cities.</a:t>
            </a:r>
          </a:p>
          <a:p>
            <a:pPr algn="just">
              <a:lnSpc>
                <a:spcPct val="150000"/>
              </a:lnSpc>
            </a:pPr>
            <a:r>
              <a:rPr sz="1800" dirty="0">
                <a:latin typeface="Times New Roman" panose="02020603050405020304" pitchFamily="18" charset="0"/>
                <a:cs typeface="Times New Roman" panose="02020603050405020304" pitchFamily="18" charset="0"/>
              </a:rPr>
              <a:t>Incentivize savings through digital banking and investment awareness.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a:bodyPr>
          <a:lstStyle/>
          <a:p>
            <a:pPr marL="0" indent="0" algn="just">
              <a:lnSpc>
                <a:spcPct val="150000"/>
              </a:lnSpc>
              <a:buNone/>
            </a:pPr>
            <a:r>
              <a:rPr sz="1800" dirty="0">
                <a:latin typeface="Times New Roman" panose="02020603050405020304" pitchFamily="18" charset="0"/>
                <a:cs typeface="Times New Roman" panose="02020603050405020304" pitchFamily="18" charset="0"/>
              </a:rPr>
              <a:t>The analysis highlights that while income and expenses vary widely by occupation and city tier, the aspiration to save remains strong across all groups. Bridging the gap between desired and actual savings through financial literacy, smart budgeting, and policy support can improve India’s overall financial well-being.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21</TotalTime>
  <Words>358</Words>
  <Application>Microsoft Office PowerPoint</Application>
  <PresentationFormat>On-screen Show (4:3)</PresentationFormat>
  <Paragraphs>34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Office Theme</vt:lpstr>
      <vt:lpstr>Indian Personal Finance &amp; Spending Habits</vt:lpstr>
      <vt:lpstr>Objectives</vt:lpstr>
      <vt:lpstr>Data Cleaning and Preparation</vt:lpstr>
      <vt:lpstr>PowerPoint Presentation</vt:lpstr>
      <vt:lpstr>Key Insights from Dashboard</vt:lpstr>
      <vt:lpstr>Observations</vt:lpstr>
      <vt:lpstr>Recommendations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dc:creator>
  <cp:keywords/>
  <dc:description>generated using python-pptx</dc:description>
  <cp:lastModifiedBy>Hari priya</cp:lastModifiedBy>
  <cp:revision>2</cp:revision>
  <dcterms:created xsi:type="dcterms:W3CDTF">2013-01-27T09:14:16Z</dcterms:created>
  <dcterms:modified xsi:type="dcterms:W3CDTF">2025-11-04T04:41:29Z</dcterms:modified>
  <cp:category/>
</cp:coreProperties>
</file>